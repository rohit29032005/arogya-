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3849" r:id="rId6"/>
    <p:sldId id="3846" r:id="rId7"/>
    <p:sldId id="261" r:id="rId8"/>
    <p:sldId id="3852" r:id="rId9"/>
    <p:sldId id="3853" r:id="rId10"/>
    <p:sldId id="3854" r:id="rId11"/>
    <p:sldId id="3855" r:id="rId12"/>
    <p:sldId id="3856" r:id="rId13"/>
    <p:sldId id="3857" r:id="rId14"/>
    <p:sldId id="3858" r:id="rId15"/>
    <p:sldId id="384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81" d="100"/>
          <a:sy n="81" d="100"/>
        </p:scale>
        <p:origin x="754" y="53"/>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2/24/2026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2/24/2026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C6A29-4676-420C-BBE3-ACC2B80F64D4}" type="slidenum">
              <a:rPr lang="en-US" smtClean="0"/>
              <a:t>3</a:t>
            </a:fld>
            <a:endParaRPr lang="en-US" dirty="0"/>
          </a:p>
        </p:txBody>
      </p:sp>
    </p:spTree>
    <p:extLst>
      <p:ext uri="{BB962C8B-B14F-4D97-AF65-F5344CB8AC3E}">
        <p14:creationId xmlns:p14="http://schemas.microsoft.com/office/powerpoint/2010/main" val="243970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162365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12</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dirty="0"/>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2/24/2026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2/24/2026</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biopressjournals.com/index.php/BJCLS/article/view/73/65" TargetMode="External"/><Relationship Id="rId2" Type="http://schemas.openxmlformats.org/officeDocument/2006/relationships/hyperlink" Target="https://www.ripublication.com/ijaer10/ijaerv10n11_142.pdf" TargetMode="External"/><Relationship Id="rId1" Type="http://schemas.openxmlformats.org/officeDocument/2006/relationships/slideLayout" Target="../slideLayouts/slideLayout5.xml"/><Relationship Id="rId5" Type="http://schemas.openxmlformats.org/officeDocument/2006/relationships/hyperlink" Target="https://jamanetwork.com/journals/jama/article-abstract/2713901" TargetMode="External"/><Relationship Id="rId4" Type="http://schemas.openxmlformats.org/officeDocument/2006/relationships/hyperlink" Target="https://www.ijsrset.com/index.php/home/article/view/IJSRSET251265/IJSRSET251265"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4207498" y="4112523"/>
            <a:ext cx="7880807" cy="2396686"/>
          </a:xfrm>
          <a:noFill/>
        </p:spPr>
        <p:txBody>
          <a:bodyPr anchor="b">
            <a:noAutofit/>
          </a:bodyPr>
          <a:lstStyle/>
          <a:p>
            <a:r>
              <a:rPr lang="en-US" dirty="0"/>
              <a:t>Arogya AI – Agentic Disease Prediction with Ayurvedic Recommendations</a:t>
            </a:r>
            <a:br>
              <a:rPr lang="en-US" dirty="0"/>
            </a:br>
            <a:br>
              <a:rPr lang="en-US" dirty="0"/>
            </a:br>
            <a:r>
              <a:rPr lang="en-US" sz="2400" dirty="0" err="1"/>
              <a:t>By:Rohit</a:t>
            </a:r>
            <a:r>
              <a:rPr lang="en-US" sz="2400" dirty="0"/>
              <a:t>(23BCE0052)</a:t>
            </a:r>
            <a:br>
              <a:rPr lang="en-US" sz="2400" dirty="0"/>
            </a:br>
            <a:r>
              <a:rPr lang="en-US" sz="2400" dirty="0"/>
              <a:t>Anshika(23BCE0080)</a:t>
            </a:r>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801708" y="554942"/>
            <a:ext cx="5552091" cy="5768220"/>
          </a:xfrm>
          <a:noFill/>
        </p:spPr>
        <p:txBody>
          <a:bodyPr>
            <a:normAutofit/>
          </a:bodyPr>
          <a:lstStyle/>
          <a:p>
            <a:r>
              <a:rPr lang="en-US" dirty="0"/>
              <a:t>Abstract</a:t>
            </a:r>
          </a:p>
          <a:p>
            <a:r>
              <a:rPr lang="en-IN" dirty="0"/>
              <a:t>Problem Statement</a:t>
            </a:r>
          </a:p>
          <a:p>
            <a:r>
              <a:rPr lang="en-IN" dirty="0"/>
              <a:t>Proposed Work</a:t>
            </a:r>
          </a:p>
          <a:p>
            <a:r>
              <a:rPr lang="en-IN" dirty="0"/>
              <a:t>System Architecture</a:t>
            </a:r>
          </a:p>
          <a:p>
            <a:r>
              <a:rPr lang="en-IN" dirty="0"/>
              <a:t>Workflow</a:t>
            </a:r>
          </a:p>
          <a:p>
            <a:r>
              <a:rPr lang="en-IN" dirty="0"/>
              <a:t>Models and Technologies Used</a:t>
            </a:r>
          </a:p>
          <a:p>
            <a:r>
              <a:rPr lang="en-IN" dirty="0"/>
              <a:t>Scalability &amp; Reliability</a:t>
            </a:r>
          </a:p>
          <a:p>
            <a:r>
              <a:rPr lang="en-IN" dirty="0"/>
              <a:t>Scope &amp; Future Enhancements</a:t>
            </a:r>
          </a:p>
          <a:p>
            <a:r>
              <a:rPr lang="en-IN" dirty="0"/>
              <a:t>References</a:t>
            </a:r>
            <a:endParaRPr lang="en-US" dirty="0"/>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513E45-4F5C-9394-1D42-7FB6C0170D83}"/>
              </a:ext>
            </a:extLst>
          </p:cNvPr>
          <p:cNvSpPr>
            <a:spLocks noGrp="1"/>
          </p:cNvSpPr>
          <p:nvPr>
            <p:ph type="title"/>
          </p:nvPr>
        </p:nvSpPr>
        <p:spPr>
          <a:xfrm>
            <a:off x="6222119" y="262763"/>
            <a:ext cx="3298953" cy="793040"/>
          </a:xfrm>
        </p:spPr>
        <p:txBody>
          <a:bodyPr anchor="b">
            <a:normAutofit fontScale="90000"/>
          </a:bodyPr>
          <a:lstStyle/>
          <a:p>
            <a:r>
              <a:rPr lang="en-IN" dirty="0"/>
              <a:t>Abstract</a:t>
            </a:r>
            <a:endParaRPr lang="en-US" dirty="0"/>
          </a:p>
        </p:txBody>
      </p:sp>
      <p:sp>
        <p:nvSpPr>
          <p:cNvPr id="5" name="Content Placeholder 4">
            <a:extLst>
              <a:ext uri="{FF2B5EF4-FFF2-40B4-BE49-F238E27FC236}">
                <a16:creationId xmlns:a16="http://schemas.microsoft.com/office/drawing/2014/main" id="{55C37F52-5C08-7C02-C9CA-E2AD930A95FB}"/>
              </a:ext>
            </a:extLst>
          </p:cNvPr>
          <p:cNvSpPr>
            <a:spLocks noGrp="1"/>
          </p:cNvSpPr>
          <p:nvPr>
            <p:ph idx="1"/>
          </p:nvPr>
        </p:nvSpPr>
        <p:spPr>
          <a:xfrm>
            <a:off x="3507318" y="1401294"/>
            <a:ext cx="8684682" cy="5260156"/>
          </a:xfrm>
        </p:spPr>
        <p:txBody>
          <a:bodyPr>
            <a:normAutofit lnSpcReduction="10000"/>
          </a:bodyPr>
          <a:lstStyle/>
          <a:p>
            <a:r>
              <a:rPr lang="en-US" sz="2200" b="1" dirty="0"/>
              <a:t>Innovative Early-Stage Disease Prediction Framework: </a:t>
            </a:r>
            <a:r>
              <a:rPr lang="en-IN" sz="2200" dirty="0"/>
              <a:t>Intelligent early-stage disease prediction</a:t>
            </a:r>
            <a:r>
              <a:rPr lang="en-US" sz="2200" dirty="0"/>
              <a:t> employs sophisticated algorithms to detect potential health issues at nascent stages, enabling timely interventions.</a:t>
            </a:r>
            <a:br>
              <a:rPr lang="en-IN" sz="2200" dirty="0"/>
            </a:br>
            <a:br>
              <a:rPr lang="en-IN" dirty="0"/>
            </a:br>
            <a:r>
              <a:rPr lang="en-IN" sz="2200" b="1" dirty="0"/>
              <a:t>Agentic AI + reasoning agents</a:t>
            </a:r>
            <a:r>
              <a:rPr lang="en-IN" dirty="0"/>
              <a:t>: </a:t>
            </a:r>
            <a:r>
              <a:rPr lang="en-US" sz="2200" dirty="0"/>
              <a:t>Incorporates intelligent agents that proactively engage in decision-making processes based on real-time data and context.</a:t>
            </a:r>
            <a:br>
              <a:rPr lang="en-IN" sz="2200" dirty="0"/>
            </a:br>
            <a:endParaRPr lang="en-IN" sz="2200" dirty="0"/>
          </a:p>
          <a:p>
            <a:r>
              <a:rPr lang="en-IN" b="1" dirty="0"/>
              <a:t>Mapping to Ayurvedic remedies</a:t>
            </a:r>
            <a:r>
              <a:rPr lang="en-IN" dirty="0"/>
              <a:t>:</a:t>
            </a:r>
            <a:r>
              <a:rPr lang="en-US" dirty="0"/>
              <a:t> </a:t>
            </a:r>
            <a:r>
              <a:rPr lang="en-US" sz="2200" dirty="0" err="1"/>
              <a:t>Utilises</a:t>
            </a:r>
            <a:r>
              <a:rPr lang="en-US" sz="2200" dirty="0"/>
              <a:t> a comprehensive database of Ayurvedic treatments to suggest </a:t>
            </a:r>
            <a:r>
              <a:rPr lang="en-US" sz="2200" dirty="0" err="1"/>
              <a:t>personalised</a:t>
            </a:r>
            <a:r>
              <a:rPr lang="en-US" sz="2200" dirty="0"/>
              <a:t> remedies based on predicted conditions</a:t>
            </a:r>
            <a:r>
              <a:rPr lang="en-US" dirty="0"/>
              <a:t>.</a:t>
            </a:r>
            <a:br>
              <a:rPr lang="en-IN" dirty="0"/>
            </a:br>
            <a:br>
              <a:rPr lang="en-IN" dirty="0"/>
            </a:br>
            <a:r>
              <a:rPr lang="en-US" b="1" dirty="0"/>
              <a:t>Scalable cloud deployment and secure data handling</a:t>
            </a:r>
            <a:r>
              <a:rPr lang="en-US" sz="2200" dirty="0"/>
              <a:t>: Leveraging cloud infrastructure for flexibility and security, ensuring user data is processed and stored safely while fulfilling demand.</a:t>
            </a:r>
            <a:br>
              <a:rPr lang="en-US" sz="2200" dirty="0"/>
            </a:br>
            <a:br>
              <a:rPr lang="en-US" dirty="0"/>
            </a:br>
            <a:endParaRPr lang="en-US" dirty="0"/>
          </a:p>
        </p:txBody>
      </p:sp>
      <p:pic>
        <p:nvPicPr>
          <p:cNvPr id="7" name="Picture Placeholder 6">
            <a:extLst>
              <a:ext uri="{FF2B5EF4-FFF2-40B4-BE49-F238E27FC236}">
                <a16:creationId xmlns:a16="http://schemas.microsoft.com/office/drawing/2014/main" id="{55160632-71AF-5FD5-ACF0-EC59D7341EC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901" r="11901"/>
          <a:stretch>
            <a:fillRect/>
          </a:stretch>
        </p:blipFill>
        <p:spPr>
          <a:xfrm>
            <a:off x="75960" y="3344159"/>
            <a:ext cx="3431358" cy="3429944"/>
          </a:xfrm>
          <a:prstGeom prst="ellipse">
            <a:avLst/>
          </a:prstGeom>
          <a:noFill/>
        </p:spPr>
      </p:pic>
    </p:spTree>
    <p:extLst>
      <p:ext uri="{BB962C8B-B14F-4D97-AF65-F5344CB8AC3E}">
        <p14:creationId xmlns:p14="http://schemas.microsoft.com/office/powerpoint/2010/main" val="329392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304803"/>
            <a:ext cx="10515600" cy="1472974"/>
          </a:xfrm>
          <a:noFill/>
        </p:spPr>
        <p:txBody>
          <a:bodyPr anchor="ctr"/>
          <a:lstStyle/>
          <a:p>
            <a:r>
              <a:rPr lang="en-IN" dirty="0"/>
              <a:t>Problem Statement</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3"/>
          </p:nvPr>
        </p:nvSpPr>
        <p:spPr>
          <a:xfrm>
            <a:off x="838200" y="1630837"/>
            <a:ext cx="8409495" cy="4492151"/>
          </a:xfrm>
          <a:noFill/>
        </p:spPr>
        <p:txBody>
          <a:bodyPr vert="horz" lIns="91440" tIns="45720" rIns="91440" bIns="45720" rtlCol="0" anchor="t">
            <a:normAutofit/>
          </a:bodyPr>
          <a:lstStyle/>
          <a:p>
            <a:r>
              <a:rPr lang="en-US" dirty="0"/>
              <a:t>The current diagnostic landscape lacks efficient tools capable of predicting diseases in their formative stages, delaying intervention. Weave relatable stories into your presentation using narratives that make your message memorable and impactful</a:t>
            </a:r>
          </a:p>
          <a:p>
            <a:r>
              <a:rPr lang="en-US" dirty="0"/>
              <a:t>As healthcare demand surges, there is a dire need for AI systems that can scale efficiently to meet patient needs without compromising quality. Use live polls or surveys to gather audience opinions, promoting engagement and making sure the audience feels involved</a:t>
            </a:r>
          </a:p>
          <a:p>
            <a:r>
              <a:rPr lang="en-US" dirty="0"/>
              <a:t>Healthcare solutions must provide transparent reasoning behind predictions to foster trust among users and healthcare professionals.</a:t>
            </a:r>
          </a:p>
          <a:p>
            <a:r>
              <a:rPr lang="en-US" dirty="0"/>
              <a:t>Patients and providers alike seek comprehensive solutions that not only diagnose but also prevent conditions through lifestyle and dietary recommendations.</a:t>
            </a:r>
          </a:p>
          <a:p>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96D5-B457-F057-ECFC-D152D9A4E0EC}"/>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DAFFDD39-C5ED-3843-CA5F-A1FC471BF4ED}"/>
              </a:ext>
            </a:extLst>
          </p:cNvPr>
          <p:cNvSpPr>
            <a:spLocks noGrp="1"/>
          </p:cNvSpPr>
          <p:nvPr>
            <p:ph sz="quarter" idx="13"/>
          </p:nvPr>
        </p:nvSpPr>
        <p:spPr>
          <a:xfrm>
            <a:off x="838200" y="1517715"/>
            <a:ext cx="8390641" cy="5241304"/>
          </a:xfrm>
        </p:spPr>
        <p:txBody>
          <a:bodyPr/>
          <a:lstStyle/>
          <a:p>
            <a:r>
              <a:rPr lang="en-US" b="1" dirty="0"/>
              <a:t>Multinomial Naive Bayes prediction engine</a:t>
            </a:r>
            <a:r>
              <a:rPr lang="en-US" dirty="0"/>
              <a:t>: </a:t>
            </a:r>
            <a:r>
              <a:rPr lang="en-US" dirty="0" err="1"/>
              <a:t>utilises</a:t>
            </a:r>
            <a:r>
              <a:rPr lang="en-US" dirty="0"/>
              <a:t> probability-based predictions to determine disease likelihood based on symptomatology, allowing for a data-driven approach to diagnostics.</a:t>
            </a:r>
          </a:p>
          <a:p>
            <a:r>
              <a:rPr lang="en-IN" b="1" dirty="0"/>
              <a:t>Agentic reasoning &amp; hypothesis locking</a:t>
            </a:r>
            <a:r>
              <a:rPr lang="en-IN" dirty="0"/>
              <a:t>: </a:t>
            </a:r>
            <a:r>
              <a:rPr lang="en-US" dirty="0"/>
              <a:t>Incorporates advanced reasoning techniques to validate predictions and ensure coherent recommendations based on established hypotheses.</a:t>
            </a:r>
          </a:p>
          <a:p>
            <a:r>
              <a:rPr lang="en-IN" b="1" dirty="0"/>
              <a:t>Ayurvedic knowledge-base integration</a:t>
            </a:r>
            <a:r>
              <a:rPr lang="en-IN" dirty="0"/>
              <a:t>: </a:t>
            </a:r>
            <a:r>
              <a:rPr lang="en-US" dirty="0"/>
              <a:t>Enriches our predictive model with culturally relevant Ayurvedic insights, ensuring recommendations resonate with users’ backgrounds.</a:t>
            </a:r>
          </a:p>
          <a:p>
            <a:r>
              <a:rPr lang="en-IN" b="1" dirty="0"/>
              <a:t>Cloud-native deployment &amp; secure storage</a:t>
            </a:r>
            <a:r>
              <a:rPr lang="en-IN" dirty="0"/>
              <a:t>: </a:t>
            </a:r>
            <a:r>
              <a:rPr lang="en-US" dirty="0"/>
              <a:t>Ensures efficient deployment of services while </a:t>
            </a:r>
            <a:r>
              <a:rPr lang="en-US" dirty="0" err="1"/>
              <a:t>emphasising</a:t>
            </a:r>
            <a:r>
              <a:rPr lang="en-US" dirty="0"/>
              <a:t> data security through encrypted storage and regulated access.</a:t>
            </a:r>
            <a:endParaRPr lang="en-IN" dirty="0"/>
          </a:p>
        </p:txBody>
      </p:sp>
    </p:spTree>
    <p:extLst>
      <p:ext uri="{BB962C8B-B14F-4D97-AF65-F5344CB8AC3E}">
        <p14:creationId xmlns:p14="http://schemas.microsoft.com/office/powerpoint/2010/main" val="3334177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B3541-372D-E208-19BA-53440AD97733}"/>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1BBEC94B-CA09-02E9-7163-2D4A4B01771B}"/>
              </a:ext>
            </a:extLst>
          </p:cNvPr>
          <p:cNvSpPr>
            <a:spLocks noGrp="1"/>
          </p:cNvSpPr>
          <p:nvPr>
            <p:ph sz="quarter" idx="13"/>
          </p:nvPr>
        </p:nvSpPr>
        <p:spPr>
          <a:xfrm>
            <a:off x="838200" y="1498862"/>
            <a:ext cx="7693057" cy="6042581"/>
          </a:xfrm>
        </p:spPr>
        <p:txBody>
          <a:bodyPr>
            <a:normAutofit/>
          </a:bodyPr>
          <a:lstStyle/>
          <a:p>
            <a:r>
              <a:rPr lang="en-IN" b="1" dirty="0"/>
              <a:t>Web/App UI → Cloud API → ML microservice</a:t>
            </a:r>
            <a:r>
              <a:rPr lang="en-IN" dirty="0"/>
              <a:t>: </a:t>
            </a:r>
            <a:r>
              <a:rPr lang="en-US" dirty="0"/>
              <a:t>End-users interact via a web or mobile interface that communicates with our cloud-based API to trigger processing within our ML pipelines.</a:t>
            </a:r>
          </a:p>
          <a:p>
            <a:r>
              <a:rPr lang="en-IN" b="1" dirty="0"/>
              <a:t>Rule-based agent layer</a:t>
            </a:r>
            <a:r>
              <a:rPr lang="en-IN" dirty="0"/>
              <a:t>: </a:t>
            </a:r>
            <a:r>
              <a:rPr lang="en-US" dirty="0"/>
              <a:t>A sophisticated rule-based layer that translates user interactions into actionable insights, guiding the prediction workflow.</a:t>
            </a:r>
          </a:p>
          <a:p>
            <a:r>
              <a:rPr lang="en-US" b="1" dirty="0"/>
              <a:t>Cloud database (symptom-disease, Ayurveda CSV)</a:t>
            </a:r>
            <a:r>
              <a:rPr lang="en-US" dirty="0"/>
              <a:t>: A structured repository of symptom-disease mappings alongside Ayurvedic treatment references to facilitate accurate recommendation generation.</a:t>
            </a:r>
          </a:p>
          <a:p>
            <a:r>
              <a:rPr lang="en-IN" b="1" dirty="0"/>
              <a:t>LLM API for explanations</a:t>
            </a:r>
            <a:r>
              <a:rPr lang="en-IN" dirty="0"/>
              <a:t>: </a:t>
            </a:r>
            <a:r>
              <a:rPr lang="en-US" dirty="0"/>
              <a:t>Employs a Large Language Model API to generate human-readable explanations for predictions, enhancing user understanding and trust.</a:t>
            </a:r>
          </a:p>
          <a:p>
            <a:r>
              <a:rPr lang="en-IN" b="1" dirty="0"/>
              <a:t>Final response delivery</a:t>
            </a:r>
            <a:r>
              <a:rPr lang="en-IN" dirty="0"/>
              <a:t>: </a:t>
            </a:r>
            <a:r>
              <a:rPr lang="en-US" dirty="0"/>
              <a:t>The system efficiently consolidates predictions and recommendations to deliver a cohesive response to the user through the frontend interface.</a:t>
            </a:r>
            <a:endParaRPr lang="en-IN" dirty="0"/>
          </a:p>
        </p:txBody>
      </p:sp>
    </p:spTree>
    <p:extLst>
      <p:ext uri="{BB962C8B-B14F-4D97-AF65-F5344CB8AC3E}">
        <p14:creationId xmlns:p14="http://schemas.microsoft.com/office/powerpoint/2010/main" val="2153134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D634-D051-32AD-8A76-9F6C923694C9}"/>
              </a:ext>
            </a:extLst>
          </p:cNvPr>
          <p:cNvSpPr>
            <a:spLocks noGrp="1"/>
          </p:cNvSpPr>
          <p:nvPr>
            <p:ph type="title"/>
          </p:nvPr>
        </p:nvSpPr>
        <p:spPr/>
        <p:txBody>
          <a:bodyPr/>
          <a:lstStyle/>
          <a:p>
            <a:r>
              <a:rPr lang="en-IN" dirty="0"/>
              <a:t>Workflow</a:t>
            </a:r>
          </a:p>
        </p:txBody>
      </p:sp>
      <p:sp>
        <p:nvSpPr>
          <p:cNvPr id="3" name="Content Placeholder 2">
            <a:extLst>
              <a:ext uri="{FF2B5EF4-FFF2-40B4-BE49-F238E27FC236}">
                <a16:creationId xmlns:a16="http://schemas.microsoft.com/office/drawing/2014/main" id="{0E0F1E4C-0E61-AEDF-5CF2-55C1D7D96A9D}"/>
              </a:ext>
            </a:extLst>
          </p:cNvPr>
          <p:cNvSpPr>
            <a:spLocks noGrp="1"/>
          </p:cNvSpPr>
          <p:nvPr>
            <p:ph sz="quarter" idx="13"/>
          </p:nvPr>
        </p:nvSpPr>
        <p:spPr>
          <a:xfrm>
            <a:off x="838200" y="1602557"/>
            <a:ext cx="8730006" cy="5109328"/>
          </a:xfrm>
        </p:spPr>
        <p:txBody>
          <a:bodyPr>
            <a:normAutofit/>
          </a:bodyPr>
          <a:lstStyle/>
          <a:p>
            <a:r>
              <a:rPr lang="en-US" dirty="0"/>
              <a:t>Users start by inputting their symptoms into the system through the user-friendly interface, ensuring accessibility.</a:t>
            </a:r>
          </a:p>
          <a:p>
            <a:r>
              <a:rPr lang="en-US" dirty="0"/>
              <a:t>Symptom inputs are efficiently routed through the system architecture for analysis and prediction validation, </a:t>
            </a:r>
            <a:r>
              <a:rPr lang="en-US" dirty="0" err="1"/>
              <a:t>optimising</a:t>
            </a:r>
            <a:r>
              <a:rPr lang="en-US" dirty="0"/>
              <a:t> processing time.</a:t>
            </a:r>
          </a:p>
          <a:p>
            <a:r>
              <a:rPr lang="en-US" dirty="0"/>
              <a:t>The system generates initial predictions based on symptom data using our advanced ML models, providing immediate feedback.</a:t>
            </a:r>
          </a:p>
          <a:p>
            <a:r>
              <a:rPr lang="en-US" dirty="0"/>
              <a:t>Provisional predictions are evaluated and validated by the agent layer, ensuring recommendations are consistent and reliable.</a:t>
            </a:r>
          </a:p>
          <a:p>
            <a:r>
              <a:rPr lang="en-US" dirty="0"/>
              <a:t>Artificial intelligence maps identified conditions to relevant Ayurvedic treatments, suggesting holistic approaches for management.</a:t>
            </a:r>
          </a:p>
          <a:p>
            <a:r>
              <a:rPr lang="en-US" dirty="0"/>
              <a:t>Employs advanced language models to convert complex predictions into understandable outputs for users.</a:t>
            </a:r>
          </a:p>
          <a:p>
            <a:r>
              <a:rPr lang="en-US" dirty="0"/>
              <a:t>outcomes, along with tailored Ayurvedic recommendations and explanations, are delivered securely back to the user.</a:t>
            </a:r>
            <a:endParaRPr lang="en-IN" dirty="0"/>
          </a:p>
        </p:txBody>
      </p:sp>
    </p:spTree>
    <p:extLst>
      <p:ext uri="{BB962C8B-B14F-4D97-AF65-F5344CB8AC3E}">
        <p14:creationId xmlns:p14="http://schemas.microsoft.com/office/powerpoint/2010/main" val="4053553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CFD9-3A2A-F8CB-8211-DC9B68A38F4F}"/>
              </a:ext>
            </a:extLst>
          </p:cNvPr>
          <p:cNvSpPr>
            <a:spLocks noGrp="1"/>
          </p:cNvSpPr>
          <p:nvPr>
            <p:ph type="title"/>
          </p:nvPr>
        </p:nvSpPr>
        <p:spPr/>
        <p:txBody>
          <a:bodyPr/>
          <a:lstStyle/>
          <a:p>
            <a:r>
              <a:rPr lang="en-IN" dirty="0"/>
              <a:t>Models and Technologies Used</a:t>
            </a:r>
          </a:p>
        </p:txBody>
      </p:sp>
      <p:sp>
        <p:nvSpPr>
          <p:cNvPr id="3" name="Content Placeholder 2">
            <a:extLst>
              <a:ext uri="{FF2B5EF4-FFF2-40B4-BE49-F238E27FC236}">
                <a16:creationId xmlns:a16="http://schemas.microsoft.com/office/drawing/2014/main" id="{BDEBD34B-4248-B143-ED6B-DF4EC9349FB6}"/>
              </a:ext>
            </a:extLst>
          </p:cNvPr>
          <p:cNvSpPr>
            <a:spLocks noGrp="1"/>
          </p:cNvSpPr>
          <p:nvPr>
            <p:ph sz="quarter" idx="13"/>
          </p:nvPr>
        </p:nvSpPr>
        <p:spPr>
          <a:xfrm>
            <a:off x="838200" y="1583703"/>
            <a:ext cx="6882353" cy="4969494"/>
          </a:xfrm>
        </p:spPr>
        <p:txBody>
          <a:bodyPr>
            <a:normAutofit fontScale="92500" lnSpcReduction="10000"/>
          </a:bodyPr>
          <a:lstStyle/>
          <a:p>
            <a:r>
              <a:rPr lang="en-IN" b="1" dirty="0"/>
              <a:t>Multinomial Naive Bayes</a:t>
            </a:r>
            <a:r>
              <a:rPr lang="en-IN" dirty="0"/>
              <a:t>: </a:t>
            </a:r>
            <a:r>
              <a:rPr lang="en-US" dirty="0"/>
              <a:t>Our prediction engine, grounded in basic probability principles, classifies symptoms to identify potential diseases effectively.</a:t>
            </a:r>
          </a:p>
          <a:p>
            <a:r>
              <a:rPr lang="en-IN" b="1" dirty="0"/>
              <a:t>Rule-based intelligent agent</a:t>
            </a:r>
            <a:r>
              <a:rPr lang="en-IN" dirty="0"/>
              <a:t>: </a:t>
            </a:r>
            <a:r>
              <a:rPr lang="en-US" dirty="0"/>
              <a:t>This layer employs logical rules to improve decision-making and enhance the reliability of predictions.</a:t>
            </a:r>
          </a:p>
          <a:p>
            <a:r>
              <a:rPr lang="en-IN" b="1" dirty="0"/>
              <a:t>RESTful cloud APIs</a:t>
            </a:r>
            <a:r>
              <a:rPr lang="en-IN" dirty="0"/>
              <a:t>: </a:t>
            </a:r>
            <a:r>
              <a:rPr lang="en-US" dirty="0" err="1"/>
              <a:t>Utilise</a:t>
            </a:r>
            <a:r>
              <a:rPr lang="en-US" dirty="0"/>
              <a:t> standard protocols for seamless interaction between user interfaces and backend services, ensuring versatility and scalability.</a:t>
            </a:r>
          </a:p>
          <a:p>
            <a:r>
              <a:rPr lang="en-IN" b="1" dirty="0"/>
              <a:t>Managed DB / Cloud storage</a:t>
            </a:r>
            <a:r>
              <a:rPr lang="en-IN" dirty="0"/>
              <a:t>: </a:t>
            </a:r>
            <a:r>
              <a:rPr lang="en-US" dirty="0"/>
              <a:t>Employs reliable and secure database solutions for efficient data handling and access control.</a:t>
            </a:r>
          </a:p>
          <a:p>
            <a:r>
              <a:rPr lang="en-IN" b="1" dirty="0"/>
              <a:t>LLM explanation service</a:t>
            </a:r>
            <a:r>
              <a:rPr lang="en-IN" dirty="0"/>
              <a:t>: </a:t>
            </a:r>
            <a:r>
              <a:rPr lang="en-US" dirty="0"/>
              <a:t>Employs advanced language models to convert complex predictions into understandable outputs for users.</a:t>
            </a:r>
          </a:p>
          <a:p>
            <a:r>
              <a:rPr lang="en-IN" b="1" dirty="0"/>
              <a:t>Containerization (Docker)</a:t>
            </a:r>
            <a:r>
              <a:rPr lang="en-IN" dirty="0"/>
              <a:t>: </a:t>
            </a:r>
            <a:r>
              <a:rPr lang="en-US" dirty="0"/>
              <a:t>Ensures that our application components are easily deployed and scaled, maintaining consistency across environments.</a:t>
            </a:r>
          </a:p>
          <a:p>
            <a:endParaRPr lang="en-IN" dirty="0"/>
          </a:p>
        </p:txBody>
      </p:sp>
    </p:spTree>
    <p:extLst>
      <p:ext uri="{BB962C8B-B14F-4D97-AF65-F5344CB8AC3E}">
        <p14:creationId xmlns:p14="http://schemas.microsoft.com/office/powerpoint/2010/main" val="1887419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9BDD-920E-918A-6B1F-6A7DF3A1B9B4}"/>
              </a:ext>
            </a:extLst>
          </p:cNvPr>
          <p:cNvSpPr>
            <a:spLocks noGrp="1"/>
          </p:cNvSpPr>
          <p:nvPr>
            <p:ph type="title"/>
          </p:nvPr>
        </p:nvSpPr>
        <p:spPr/>
        <p:txBody>
          <a:bodyPr/>
          <a:lstStyle/>
          <a:p>
            <a:r>
              <a:rPr lang="en-IN" dirty="0"/>
              <a:t>Scalability &amp; Reliability</a:t>
            </a:r>
          </a:p>
        </p:txBody>
      </p:sp>
      <p:sp>
        <p:nvSpPr>
          <p:cNvPr id="3" name="Content Placeholder 2">
            <a:extLst>
              <a:ext uri="{FF2B5EF4-FFF2-40B4-BE49-F238E27FC236}">
                <a16:creationId xmlns:a16="http://schemas.microsoft.com/office/drawing/2014/main" id="{036EEFB1-E111-C85B-37E8-6696A319F334}"/>
              </a:ext>
            </a:extLst>
          </p:cNvPr>
          <p:cNvSpPr>
            <a:spLocks noGrp="1"/>
          </p:cNvSpPr>
          <p:nvPr>
            <p:ph sz="quarter" idx="13"/>
          </p:nvPr>
        </p:nvSpPr>
        <p:spPr>
          <a:xfrm>
            <a:off x="838201" y="1866507"/>
            <a:ext cx="7419680" cy="4920792"/>
          </a:xfrm>
        </p:spPr>
        <p:txBody>
          <a:bodyPr/>
          <a:lstStyle/>
          <a:p>
            <a:r>
              <a:rPr lang="en-US" dirty="0"/>
              <a:t>Allows our machine learning services to extend horizontally, accommodating growing user demand without sacrificing performance.</a:t>
            </a:r>
          </a:p>
          <a:p>
            <a:r>
              <a:rPr lang="en-US" dirty="0"/>
              <a:t>Distributes incoming traffic across multiple instances to prevent overload and ensure optimal response times.</a:t>
            </a:r>
          </a:p>
          <a:p>
            <a:r>
              <a:rPr lang="en-US" dirty="0"/>
              <a:t>Ensures that all service endpoints adhere to strict authentication protocols, safeguarding user data and interactions.</a:t>
            </a:r>
          </a:p>
          <a:p>
            <a:r>
              <a:rPr lang="en-US" dirty="0"/>
              <a:t>Employ monitoring tools to maintain real-time insight into system performance, detecting anomalies proactively.</a:t>
            </a:r>
          </a:p>
          <a:p>
            <a:r>
              <a:rPr lang="en-US" dirty="0"/>
              <a:t>Employs comprehensive strategies for data backup and redundancy to ensure system resilience and recovery in case of failure.</a:t>
            </a:r>
            <a:endParaRPr lang="en-IN" dirty="0"/>
          </a:p>
        </p:txBody>
      </p:sp>
    </p:spTree>
    <p:extLst>
      <p:ext uri="{BB962C8B-B14F-4D97-AF65-F5344CB8AC3E}">
        <p14:creationId xmlns:p14="http://schemas.microsoft.com/office/powerpoint/2010/main" val="1942402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3CA2-44EA-0011-811E-CE589ADB7A73}"/>
              </a:ext>
            </a:extLst>
          </p:cNvPr>
          <p:cNvSpPr>
            <a:spLocks noGrp="1"/>
          </p:cNvSpPr>
          <p:nvPr>
            <p:ph type="title"/>
          </p:nvPr>
        </p:nvSpPr>
        <p:spPr/>
        <p:txBody>
          <a:bodyPr/>
          <a:lstStyle/>
          <a:p>
            <a:r>
              <a:rPr lang="en-IN" dirty="0"/>
              <a:t>Scope &amp; Future Enhancements</a:t>
            </a:r>
          </a:p>
        </p:txBody>
      </p:sp>
      <p:sp>
        <p:nvSpPr>
          <p:cNvPr id="3" name="Content Placeholder 2">
            <a:extLst>
              <a:ext uri="{FF2B5EF4-FFF2-40B4-BE49-F238E27FC236}">
                <a16:creationId xmlns:a16="http://schemas.microsoft.com/office/drawing/2014/main" id="{0A3E782B-59B5-7B46-DA59-E040177FD3F7}"/>
              </a:ext>
            </a:extLst>
          </p:cNvPr>
          <p:cNvSpPr>
            <a:spLocks noGrp="1"/>
          </p:cNvSpPr>
          <p:nvPr>
            <p:ph sz="quarter" idx="13"/>
          </p:nvPr>
        </p:nvSpPr>
        <p:spPr/>
        <p:txBody>
          <a:bodyPr/>
          <a:lstStyle/>
          <a:p>
            <a:r>
              <a:rPr lang="en-US" dirty="0"/>
              <a:t>Implementing analytics interfaces to deliver insightful data on user health trends and system performance.</a:t>
            </a:r>
          </a:p>
          <a:p>
            <a:r>
              <a:rPr lang="en-US" dirty="0"/>
              <a:t>Plans to incorporate data from wearable technology to enrich user profiles and improve predictive accuracy.</a:t>
            </a:r>
          </a:p>
          <a:p>
            <a:r>
              <a:rPr lang="en-US" dirty="0"/>
              <a:t>Future versions may include voice input/output and multi-language support to improve accessibility and user experience.</a:t>
            </a:r>
          </a:p>
          <a:p>
            <a:r>
              <a:rPr lang="en-US" dirty="0"/>
              <a:t>The system can incorporate severity scoring and visual risk indicators to help users better understand the urgency of their condition.</a:t>
            </a:r>
          </a:p>
          <a:p>
            <a:r>
              <a:rPr lang="en-US" dirty="0"/>
              <a:t>The system can be connected with telemedicine platforms to enable direct consultation with certified medical professionals when high-risk conditions are detected. </a:t>
            </a:r>
          </a:p>
          <a:p>
            <a:endParaRPr lang="en-IN" dirty="0"/>
          </a:p>
        </p:txBody>
      </p:sp>
    </p:spTree>
    <p:extLst>
      <p:ext uri="{BB962C8B-B14F-4D97-AF65-F5344CB8AC3E}">
        <p14:creationId xmlns:p14="http://schemas.microsoft.com/office/powerpoint/2010/main" val="2421212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FE0F-0D18-B214-8DF8-AB8E147D2B2E}"/>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1D63F6C-9CF0-41B6-1680-AA9E032D3112}"/>
              </a:ext>
            </a:extLst>
          </p:cNvPr>
          <p:cNvSpPr>
            <a:spLocks noGrp="1"/>
          </p:cNvSpPr>
          <p:nvPr>
            <p:ph sz="quarter" idx="13"/>
          </p:nvPr>
        </p:nvSpPr>
        <p:spPr>
          <a:xfrm>
            <a:off x="838200" y="1838099"/>
            <a:ext cx="7457388" cy="4715098"/>
          </a:xfrm>
        </p:spPr>
        <p:txBody>
          <a:bodyPr/>
          <a:lstStyle/>
          <a:p>
            <a:r>
              <a:rPr lang="en-US" dirty="0">
                <a:hlinkClick r:id="rId2"/>
              </a:rPr>
              <a:t>S. Khan and M. R. Ghalib, “A Naive-Bayes approach for disease diagnosis with analysis of disease type and symptoms,” Int. J. Appl. Eng. Res., vol. 10, no. 11, pp. 29005–29014, 2015. </a:t>
            </a:r>
            <a:endParaRPr lang="en-US" dirty="0"/>
          </a:p>
          <a:p>
            <a:r>
              <a:rPr lang="en-US" dirty="0">
                <a:hlinkClick r:id="rId3"/>
              </a:rPr>
              <a:t>H. Patel, D. </a:t>
            </a:r>
            <a:r>
              <a:rPr lang="en-US" dirty="0" err="1">
                <a:hlinkClick r:id="rId3"/>
              </a:rPr>
              <a:t>Sathwara</a:t>
            </a:r>
            <a:r>
              <a:rPr lang="en-US" dirty="0">
                <a:hlinkClick r:id="rId3"/>
              </a:rPr>
              <a:t>, V. Maheshwari, and D. Joshi, "Harnessing Artificial Intelligence for the Future of Precision Medicine: Transforming Patient-Centric Care Through Data-Driven Innovation," </a:t>
            </a:r>
            <a:r>
              <a:rPr lang="en-US" dirty="0" err="1">
                <a:hlinkClick r:id="rId3"/>
              </a:rPr>
              <a:t>Biopress</a:t>
            </a:r>
            <a:r>
              <a:rPr lang="en-US" dirty="0">
                <a:hlinkClick r:id="rId3"/>
              </a:rPr>
              <a:t> J. </a:t>
            </a:r>
            <a:r>
              <a:rPr lang="en-US" dirty="0" err="1">
                <a:hlinkClick r:id="rId3"/>
              </a:rPr>
              <a:t>Comput</a:t>
            </a:r>
            <a:r>
              <a:rPr lang="en-US" dirty="0">
                <a:hlinkClick r:id="rId3"/>
              </a:rPr>
              <a:t>. Life Sci., vol. 1, no. 4, Jul. 2025.</a:t>
            </a:r>
            <a:endParaRPr lang="en-US" dirty="0"/>
          </a:p>
          <a:p>
            <a:r>
              <a:rPr lang="en-US" dirty="0">
                <a:hlinkClick r:id="rId4"/>
              </a:rPr>
              <a:t>S. R. Thamma, "Agentic AI for Clinical Decision Support: Real-Time Diagnosis, Triage, and Treatment Planning," Int. J. Sci. Res. Sci. Eng. Technol., 2025. </a:t>
            </a:r>
            <a:r>
              <a:rPr lang="en-US" dirty="0" err="1">
                <a:hlinkClick r:id="rId4"/>
              </a:rPr>
              <a:t>doi</a:t>
            </a:r>
            <a:r>
              <a:rPr lang="en-US" dirty="0">
                <a:hlinkClick r:id="rId4"/>
              </a:rPr>
              <a:t>: 10.32628/IJSRSET251265.</a:t>
            </a:r>
            <a:endParaRPr lang="en-US" dirty="0"/>
          </a:p>
          <a:p>
            <a:r>
              <a:rPr lang="en-US" dirty="0">
                <a:hlinkClick r:id="rId5"/>
              </a:rPr>
              <a:t>E. H. </a:t>
            </a:r>
            <a:r>
              <a:rPr lang="en-US" dirty="0" err="1">
                <a:hlinkClick r:id="rId5"/>
              </a:rPr>
              <a:t>Shortliffe</a:t>
            </a:r>
            <a:r>
              <a:rPr lang="en-US" dirty="0">
                <a:hlinkClick r:id="rId5"/>
              </a:rPr>
              <a:t> and M. J. Sepúlveda, "Clinical Decision Support in the Era of Artificial Intelligence," JAMA, vol. 320, no. 21, pp. 2199–2200, 2018. </a:t>
            </a:r>
            <a:r>
              <a:rPr lang="en-US" dirty="0" err="1">
                <a:hlinkClick r:id="rId5"/>
              </a:rPr>
              <a:t>doi</a:t>
            </a:r>
            <a:r>
              <a:rPr lang="en-US" dirty="0">
                <a:hlinkClick r:id="rId5"/>
              </a:rPr>
              <a:t>: 10.1001/jama.2018.17163.</a:t>
            </a:r>
            <a:endParaRPr lang="en-US" dirty="0"/>
          </a:p>
          <a:p>
            <a:endParaRPr lang="en-US" dirty="0"/>
          </a:p>
        </p:txBody>
      </p:sp>
    </p:spTree>
    <p:extLst>
      <p:ext uri="{BB962C8B-B14F-4D97-AF65-F5344CB8AC3E}">
        <p14:creationId xmlns:p14="http://schemas.microsoft.com/office/powerpoint/2010/main" val="1695308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605455" y="755171"/>
            <a:ext cx="4619937" cy="5315035"/>
          </a:xfrm>
          <a:noFill/>
        </p:spPr>
        <p:txBody>
          <a:bodyPr>
            <a:normAutofit/>
          </a:bodyPr>
          <a:lstStyle/>
          <a:p>
            <a:r>
              <a:rPr lang="en-US" dirty="0"/>
              <a:t>Rohit Shrivastava : 23BCE0052</a:t>
            </a:r>
          </a:p>
          <a:p>
            <a:r>
              <a:rPr lang="en-US" dirty="0"/>
              <a:t>Anshika Rai : 23BCE0080</a:t>
            </a:r>
          </a:p>
        </p:txBody>
      </p:sp>
    </p:spTree>
    <p:extLst>
      <p:ext uri="{BB962C8B-B14F-4D97-AF65-F5344CB8AC3E}">
        <p14:creationId xmlns:p14="http://schemas.microsoft.com/office/powerpoint/2010/main" val="156248483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2.xml><?xml version="1.0" encoding="utf-8"?>
<ds:datastoreItem xmlns:ds="http://schemas.openxmlformats.org/officeDocument/2006/customXml" ds:itemID="{E130005B-6102-4F3C-A26F-485DF1BF971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BC90B52-91C7-4BE9-8AE0-180FFFE110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Shapes presentation</Template>
  <TotalTime>191</TotalTime>
  <Words>1129</Words>
  <Application>Microsoft Office PowerPoint</Application>
  <PresentationFormat>Widescreen</PresentationFormat>
  <Paragraphs>71</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Avenir Next LT Pro</vt:lpstr>
      <vt:lpstr>Avenir Next LT Pro Light</vt:lpstr>
      <vt:lpstr>Calibri</vt:lpstr>
      <vt:lpstr>Tw Cen MT</vt:lpstr>
      <vt:lpstr>Custom</vt:lpstr>
      <vt:lpstr>Arogya AI – Agentic Disease Prediction with Ayurvedic Recommendations  By:Rohit(23BCE0052) Anshika(23BCE0080)</vt:lpstr>
      <vt:lpstr>Agenda</vt:lpstr>
      <vt:lpstr>Abstract</vt:lpstr>
      <vt:lpstr>Problem Statement</vt:lpstr>
      <vt:lpstr>Proposed Work</vt:lpstr>
      <vt:lpstr>System Architecture</vt:lpstr>
      <vt:lpstr>Workflow</vt:lpstr>
      <vt:lpstr>Models and Technologies Used</vt:lpstr>
      <vt:lpstr>Scalability &amp; Reliability</vt:lpstr>
      <vt:lpstr>Scope &amp; Future Enhancements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SHRIVASTAVA</dc:creator>
  <cp:lastModifiedBy>ROHIT SHRIVASTAVA</cp:lastModifiedBy>
  <cp:revision>3</cp:revision>
  <dcterms:created xsi:type="dcterms:W3CDTF">2026-02-23T17:22:38Z</dcterms:created>
  <dcterms:modified xsi:type="dcterms:W3CDTF">2026-02-23T20:47:06Z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